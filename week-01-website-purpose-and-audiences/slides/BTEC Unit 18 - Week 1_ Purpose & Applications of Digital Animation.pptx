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33937" y="2399407"/>
            <a:ext cx="2524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DM Sans SemiBold"/>
              </a:rPr>
              <a:t>BTEC UNIT 18 • DIGITAL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0505" y="2780407"/>
            <a:ext cx="7910988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865"/>
              </a:lnSpc>
            </a:pPr>
            <a:r>
              <a:rPr b="1" sz="5100" i="0" u="none">
                <a:solidFill>
                  <a:srgbClr val="FFFFFF"/>
                </a:solidFill>
                <a:latin typeface="Poppins"/>
              </a:rPr>
              <a:t>Purpose &amp;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15642"/>
            <a:ext cx="762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DM Sans"/>
              </a:rPr>
              <a:t>Exploring the core functions, industry sectors, and target audiences of digital animation in modern media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2587" y="2157412"/>
            <a:ext cx="1266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DM Sans SemiBold"/>
              </a:rPr>
              <a:t>TOPIC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20615" y="3052762"/>
            <a:ext cx="6150768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oppins"/>
              </a:rPr>
              <a:t>Why Do We Animate?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4014787"/>
            <a:ext cx="6667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DM Sans"/>
              </a:rPr>
              <a:t>Understanding the fundamental motives driving digital animation creation across global industries.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3162"/>
            <a:ext cx="3505200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443162"/>
            <a:ext cx="3505200" cy="2886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2443162"/>
            <a:ext cx="3505200" cy="2886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1938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81387"/>
            <a:ext cx="177022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Entertainment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10012"/>
            <a:ext cx="29527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Storytelling through feature films, TV shows, and animated series to captivate and emotionally engage diverse global audiences.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2719387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9625" y="3481387"/>
            <a:ext cx="25803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Education &amp;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910012"/>
            <a:ext cx="29527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Simplifying complex academic concepts, medical procedures, and corporate safety protocols through clear visual demonstration.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71938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481387"/>
            <a:ext cx="264033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Commercial &amp; Promo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910012"/>
            <a:ext cx="29527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Driving brand awareness, product launches, and targeted advertising campaigns with dynamic, memorable visual effects.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852737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2852737"/>
            <a:ext cx="3810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4875" y="2852737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Primary Purposes of Animation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14650"/>
            <a:ext cx="5334000" cy="1943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14650"/>
            <a:ext cx="5334000" cy="1943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228975"/>
            <a:ext cx="4940617" cy="333375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Scientific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657600"/>
            <a:ext cx="4705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Rendering subatomic particles, biological cell interactions, and astronomical phenomena that cannot be captured with real-world camera lenses.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228975"/>
            <a:ext cx="4940617" cy="33337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Architectural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657600"/>
            <a:ext cx="4705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Creating immersive 3D walkthroughs, structural stress tests, and urban development models before physical construction commences.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27660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276600"/>
            <a:ext cx="1714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Specialized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7645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76450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Key Production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2562225"/>
            <a:ext cx="57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562225"/>
            <a:ext cx="4953000" cy="51435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Feature Films &amp; VFX: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High-end 3D CGI integrated seamlessly into live-action pipelines for blockbuster cinema.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076575"/>
            <a:ext cx="57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76575"/>
            <a:ext cx="4953000" cy="51435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Interactive Gaming: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Real-time animation engines (Unreal, Unity) powering player avatars, NPCs, and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590925"/>
            <a:ext cx="57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590925"/>
            <a:ext cx="4953000" cy="51435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Rigging &amp; Motion Capture: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Translating actor movements onto digital character skeletons for realistic expressions.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76450"/>
            <a:ext cx="5334000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Entertainment &amp; Gaming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54006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Advertising &amp;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1133475"/>
            <a:ext cx="51435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1390650"/>
            <a:ext cx="54006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Visual Impact in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1819275"/>
            <a:ext cx="5143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Animated explainer videos increase viewer retention by up to 80% compared to static text or traditional 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2520255"/>
            <a:ext cx="51435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Motion graphics allow brands to transform abstract value propositions into memorable, bite-sized visual narratives tailored for social media feeds and broadcast TV.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3081337"/>
            <a:ext cx="2686050" cy="1238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38350" y="4414837"/>
            <a:ext cx="2400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475569"/>
                </a:solidFill>
                <a:latin typeface="DM Sans SemiBold"/>
              </a:rPr>
              <a:t>Higher Conversion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914650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63EC6"/>
                </a:solidFill>
                <a:latin typeface="Poppins SemiBold"/>
              </a:rPr>
              <a:t>The Power of Visual Storytelling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343275"/>
            <a:ext cx="5334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Studies consistently demonstrate that audiences retain 95% of a message when viewing it in video or animated format, compared to just 10% when reading static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229100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Integrating animated elements across digital platforms significantly boosts user dwell time and brand recall.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Audience Engagement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0250" y="2476500"/>
            <a:ext cx="8620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DM Sans"/>
              </a:rPr>
              <a:t>Micro-Interactions: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Subtle hover states, animated toggle switches, and progress bars provide instant visual feedback to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3181350"/>
            <a:ext cx="8620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DM Sans"/>
              </a:rPr>
              <a:t>Seamless Transitions: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Smooth page loads and animated modal entries eliminate jarring visual cuts during navigation.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3886200"/>
            <a:ext cx="8620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DM Sans"/>
              </a:rPr>
              <a:t>Lottie &amp; Vector Animation: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Lightweight, scalable SVG animations keep web pages fast while enhancing aesthetic appeal.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591050"/>
            <a:ext cx="8620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DM Sans"/>
              </a:rPr>
              <a:t>Accessibility Focus: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Respecting reduced-motion media queries ensures animations enhance rather than hinder usability.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500312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205162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910012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614862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UI/UX &amp; Web Animation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0650"/>
            <a:ext cx="11049000" cy="4991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0175" y="5210175"/>
            <a:ext cx="9391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DM Sans"/>
              </a:rPr>
              <a:t>Entertainment remains the largest sector, but commercial advertising and corporate e-learning represent rapidly expanding markets for digital animators.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Animation Industry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62212"/>
            <a:ext cx="11049000" cy="28479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62212"/>
          <a:ext cx="11048997" cy="284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14413"/>
                <a:gridCol w="2226319"/>
                <a:gridCol w="2913161"/>
                <a:gridCol w="3695104"/>
              </a:tblGrid>
              <a:tr h="56959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63E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Render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63E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Visual Realism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63E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Use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63EC6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2D 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Fast (Real-time)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Stylized / Stylistic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Web UI, Mobile Games, Cartoons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3D CGI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Heavy / Slow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Photorealistic to Stylized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VFX, Feature Films, AAA Games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Motion Graphics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Moderate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Abstract / Geometric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Commercials, UI, Title Sequences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Stop Motion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Manual / Practical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Tactile / Physical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Specialty Films, Indie Animation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019425"/>
            <a:ext cx="2214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5913" y="3019425"/>
            <a:ext cx="2226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12233" y="3019425"/>
            <a:ext cx="2913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5395" y="3019425"/>
            <a:ext cx="3695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590925"/>
            <a:ext cx="2214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5913" y="3590925"/>
            <a:ext cx="2226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12233" y="3590925"/>
            <a:ext cx="2913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5395" y="3590925"/>
            <a:ext cx="3695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162425"/>
            <a:ext cx="2214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5913" y="4162425"/>
            <a:ext cx="2226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2233" y="4162425"/>
            <a:ext cx="2913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5395" y="4162425"/>
            <a:ext cx="3695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733925"/>
            <a:ext cx="2214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5913" y="4733925"/>
            <a:ext cx="2226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2233" y="4733925"/>
            <a:ext cx="2913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5395" y="4733925"/>
            <a:ext cx="3695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Animation Mediums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4825"/>
            <a:ext cx="2541240" cy="1238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705100"/>
            <a:ext cx="254124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314825"/>
            <a:ext cx="254124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705100"/>
            <a:ext cx="2541240" cy="10382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0100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990" y="4476750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863EC6"/>
                </a:solidFill>
                <a:latin typeface="Poppins SemiBold"/>
              </a:rPr>
              <a:t>1. Pre-Production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791075"/>
            <a:ext cx="221739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DM Sans"/>
              </a:rPr>
              <a:t>Brief analysis, storyboarding, character design, and audio scripting.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867025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863EC6"/>
                </a:solidFill>
                <a:latin typeface="Poppins SemiBold"/>
              </a:rPr>
              <a:t>2.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3181350"/>
            <a:ext cx="22173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DM Sans"/>
              </a:rPr>
              <a:t>Asset creation, rigging, keyframing, and lighting setup.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476750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863EC6"/>
                </a:solidFill>
                <a:latin typeface="Poppins SemiBold"/>
              </a:rPr>
              <a:t>3. Post-Production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791075"/>
            <a:ext cx="22173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DM Sans"/>
              </a:rPr>
              <a:t>Rendering, compositing, visual effects, and audio mixing.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867025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863EC6"/>
                </a:solidFill>
                <a:latin typeface="Poppins SemiBold"/>
              </a:rPr>
              <a:t>4.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3181350"/>
            <a:ext cx="22173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DM Sans"/>
              </a:rPr>
              <a:t>Exporting to required codec, format, and platform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Production Workflow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37345" y="3924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863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3265" y="3924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863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9184" y="3924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863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45104" y="3924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863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57825" y="533400"/>
            <a:ext cx="1276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DM Sans SemiBold"/>
              </a:rPr>
              <a:t>WEEK 1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75" y="914400"/>
            <a:ext cx="116014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71675"/>
            <a:ext cx="11049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DM Sans"/>
              </a:rPr>
              <a:t>Complete the Product Analysis activity in the repository before next week's session on Copyright &amp; Legal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05125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DM Sans Medium"/>
              </a:rPr>
              <a:t>BTEC Level 3 Digital Animation • Unit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90875" y="3119437"/>
            <a:ext cx="5810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90875" y="3881437"/>
            <a:ext cx="5810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90875" y="3881437"/>
            <a:ext cx="5810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326231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6250" y="3269456"/>
            <a:ext cx="4714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https://manu.ninja/images/raptor.jpg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0" y="3502818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manu.ninja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875" y="403383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6250" y="4040981"/>
            <a:ext cx="4714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https://microless.com/cdn/products/46366da5ef850a0f4c34132ab29593d1-hi.jpg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0" y="4274343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global.microless.com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863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